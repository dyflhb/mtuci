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32E"/>
    <a:srgbClr val="0007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8175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0160">
            <a:solidFill>
              <a:srgbClr val="CF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1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Валютные риски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8696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1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МТУСИ • БПИ2503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5718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5718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32E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872B"/>
          </a:solidFill>
          <a:ln w="12700">
            <a:solidFill>
              <a:srgbClr val="C987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CE5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МОСКОВСКИЙ ТЕХНИЧЕСКИЙ УНИВЕРСИТЕТ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DCE5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СВЯЗИ И ИНФОРМАТИКИ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84708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ВАЛЮТНЫЕ РИСКИ: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85800" y="245059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понятия, виды, исторические кейсы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13232" y="3255264"/>
            <a:ext cx="2103120" cy="0"/>
          </a:xfrm>
          <a:prstGeom prst="line">
            <a:avLst/>
          </a:prstGeom>
          <a:noFill/>
          <a:ln w="38100">
            <a:solidFill>
              <a:srgbClr val="C98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493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CE5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Реферат • презентация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4617720"/>
            <a:ext cx="5760720" cy="10515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CE5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Выполнил: студент группы БПИ2503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CE5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Яричевский Даниил Олегович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CE5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Проверила: Вандина Ольга Георгиевна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235440" y="60350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DCE5E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Москва •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5718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Актуальность и цель работы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353312"/>
            <a:ext cx="3474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" y="1472184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$9,6 трлн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50392" y="1901952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среднедневной оборот внебиржевого FX-рынка, апрель 2025 г. [4;5]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70832" y="1353312"/>
            <a:ext cx="3474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5424" y="1472184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89,2%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535424" y="1901952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сделок имели доллар США на одной из сторон [4]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55864" y="1353312"/>
            <a:ext cx="3474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0456" y="1472184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~$4,0 трлн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220456" y="1901952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среднедневной оборот валютных свопов [4;5]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2761488"/>
            <a:ext cx="72694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90088"/>
            <a:ext cx="3017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Почему возникает риск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410712"/>
            <a:ext cx="6583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US" sz="15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курс меняет стоимость будущих денежных потоков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849624"/>
            <a:ext cx="6583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US" sz="15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обязательства в иностранной валюте увеличиваются при девальвации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288536"/>
            <a:ext cx="6583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US" sz="15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фиксированный курс не устраняет риск, а может отложить его проявление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754880"/>
            <a:ext cx="6583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US" sz="15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риск передается между государством, банками, компаниями и инвесторами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74736" y="2761488"/>
            <a:ext cx="3355848" cy="2377440"/>
          </a:xfrm>
          <a:prstGeom prst="roundRect">
            <a:avLst>
              <a:gd name="adj" fmla="val 4615"/>
            </a:avLst>
          </a:prstGeom>
          <a:solidFill>
            <a:srgbClr val="EAF0F6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0768" y="3017520"/>
            <a:ext cx="28346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30768" y="3456432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Раскрыть содержание валютного риска, его виды, методы оценки и управления, а также разобрать исторические кейсы.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5718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Понятие валютного риска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13232" y="1325880"/>
            <a:ext cx="10789920" cy="868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Валютный риск — возможность изменения стоимости денежных потоков, активов, обязательств или финансового результата из-за изменения обменного курса. [3]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" y="2560320"/>
            <a:ext cx="3063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2724912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356EA8"/>
          </a:solidFill>
          <a:ln w="12700">
            <a:solidFill>
              <a:srgbClr val="356E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743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Валюта</a:t>
            </a:r>
            <a:endParaRPr lang="en-US" sz="1600" b="1" dirty="0"/>
          </a:p>
        </p:txBody>
      </p:sp>
      <p:sp>
        <p:nvSpPr>
          <p:cNvPr id="7" name="Text 5"/>
          <p:cNvSpPr/>
          <p:nvPr/>
        </p:nvSpPr>
        <p:spPr>
          <a:xfrm>
            <a:off x="877824" y="3182112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EUR, USD и др.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87952" y="2560320"/>
            <a:ext cx="3063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2544" y="2724912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4F7D61"/>
          </a:solidFill>
          <a:ln w="12700">
            <a:solidFill>
              <a:srgbClr val="4F7D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52544" y="2743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Экспозиция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52544" y="3182112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сумма, зависящая от курса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62672" y="2560320"/>
            <a:ext cx="3063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27264" y="2724912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C9872B"/>
          </a:solidFill>
          <a:ln w="12700">
            <a:solidFill>
              <a:srgbClr val="C987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27264" y="2743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Риск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27264" y="3182112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неблагоприятное изменение результата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48456" y="2962656"/>
            <a:ext cx="384048" cy="411480"/>
          </a:xfrm>
          <a:prstGeom prst="chevron">
            <a:avLst/>
          </a:prstGeom>
          <a:solidFill>
            <a:srgbClr val="CFD5DD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23176" y="2962656"/>
            <a:ext cx="384048" cy="411480"/>
          </a:xfrm>
          <a:prstGeom prst="chevron">
            <a:avLst/>
          </a:prstGeom>
          <a:solidFill>
            <a:srgbClr val="CFD5DD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4251960"/>
            <a:ext cx="10012680" cy="1115568"/>
          </a:xfrm>
          <a:prstGeom prst="roundRect">
            <a:avLst>
              <a:gd name="adj" fmla="val 9836"/>
            </a:avLst>
          </a:prstGeom>
          <a:solidFill>
            <a:srgbClr val="EEF3F7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4507992"/>
            <a:ext cx="95097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Пример</a:t>
            </a:r>
            <a:r>
              <a:rPr lang="en-US" sz="17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платеж 1 млн евро при курсе 100 ₽/€ = 100 млн ₽. При 110 ₽/€ расходы возрастают до 110 млн ₽.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5718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Основные виды валютной экспозиции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32588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14904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Транзакционный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871216" y="14904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конкретный денежный поток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57800" y="1463040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дебиторская/кредиторская задолженность, кредиты, платежи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833104" y="1463040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срок и сумма обычно известны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83464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9992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F7D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Трансляционный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871216" y="29992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пересчет отчетности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57800" y="2971800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активы и обязательства зарубежной дочерней компании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8833104" y="2971800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бухгалтерский эффект, не обязательно денежный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434340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5079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987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Экономический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871216" y="45079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будущие денежные потоки и стоимость бизнеса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57800" y="4480560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цены, себестоимость, конкурентоспособность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833104" y="4480560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горизонт может составлять годы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5870448"/>
            <a:ext cx="1037844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Три вида связаны между собой: контрактная позиция влияет на экономическую экспозицию, а трансляционные эффекты меняют показатели группы.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5718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Валютный риск государства и финансовой системы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828800"/>
            <a:ext cx="199339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29968"/>
            <a:ext cx="171907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Валютный режим</a:t>
            </a:r>
            <a:endParaRPr lang="en-US" sz="1430" dirty="0"/>
          </a:p>
        </p:txBody>
      </p:sp>
      <p:sp>
        <p:nvSpPr>
          <p:cNvPr id="5" name="Text 3"/>
          <p:cNvSpPr/>
          <p:nvPr/>
        </p:nvSpPr>
        <p:spPr>
          <a:xfrm>
            <a:off x="722376" y="2587752"/>
            <a:ext cx="17373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фиксированный / плавающий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2633472" y="2359152"/>
            <a:ext cx="219456" cy="384048"/>
          </a:xfrm>
          <a:prstGeom prst="chevron">
            <a:avLst/>
          </a:prstGeom>
          <a:solidFill>
            <a:srgbClr val="356EA8"/>
          </a:solidFill>
          <a:ln w="12700">
            <a:solidFill>
              <a:srgbClr val="356E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07792" y="1828800"/>
            <a:ext cx="199339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4952" y="2029968"/>
            <a:ext cx="171907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Внешний долг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3035808" y="2587752"/>
            <a:ext cx="17373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валюта + срок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946904" y="2359152"/>
            <a:ext cx="219456" cy="384048"/>
          </a:xfrm>
          <a:prstGeom prst="chevron">
            <a:avLst/>
          </a:prstGeom>
          <a:solidFill>
            <a:srgbClr val="356EA8"/>
          </a:solidFill>
          <a:ln w="12700">
            <a:solidFill>
              <a:srgbClr val="356E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21224" y="1828800"/>
            <a:ext cx="199339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58384" y="2029968"/>
            <a:ext cx="171907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Резервы и ликвидность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5349240" y="2587752"/>
            <a:ext cx="17373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способность поддерживать режим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260336" y="2359152"/>
            <a:ext cx="219456" cy="384048"/>
          </a:xfrm>
          <a:prstGeom prst="chevron">
            <a:avLst/>
          </a:prstGeom>
          <a:solidFill>
            <a:srgbClr val="356EA8"/>
          </a:solidFill>
          <a:ln w="12700">
            <a:solidFill>
              <a:srgbClr val="356E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34656" y="1828800"/>
            <a:ext cx="1993392" cy="1508760"/>
          </a:xfrm>
          <a:prstGeom prst="roundRect">
            <a:avLst>
              <a:gd name="adj" fmla="val 7273"/>
            </a:avLst>
          </a:prstGeom>
          <a:solidFill>
            <a:srgbClr val="FFF3E4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71816" y="2029968"/>
            <a:ext cx="171907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Девальвация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7662672" y="2587752"/>
            <a:ext cx="17373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рост нагрузки по FX-долгу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9573768" y="2359152"/>
            <a:ext cx="219456" cy="384048"/>
          </a:xfrm>
          <a:prstGeom prst="chevron">
            <a:avLst/>
          </a:prstGeom>
          <a:solidFill>
            <a:srgbClr val="356EA8"/>
          </a:solidFill>
          <a:ln w="12700">
            <a:solidFill>
              <a:srgbClr val="356E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48088" y="1828800"/>
            <a:ext cx="199339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85248" y="2029968"/>
            <a:ext cx="171907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Банки и компании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9976104" y="2587752"/>
            <a:ext cx="17373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кредитные и финансовые потери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14400" y="4069080"/>
            <a:ext cx="10287000" cy="1005840"/>
          </a:xfrm>
          <a:prstGeom prst="roundRect">
            <a:avLst>
              <a:gd name="adj" fmla="val 10909"/>
            </a:avLst>
          </a:prstGeom>
          <a:solidFill>
            <a:srgbClr val="EAF0F6"/>
          </a:solidFill>
          <a:ln w="12700">
            <a:solidFill>
              <a:srgbClr val="D8E2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4343400"/>
            <a:ext cx="97840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Наиболее уязвимая комбинация: жестко управляемый курс + высокая доля краткосрочного внешнего долга + ограниченная ликвидность. [6;7;8]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5718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Оценка валютного риска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280160"/>
            <a:ext cx="51663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72768"/>
            <a:ext cx="45720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Открытая валютная позиция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78408" y="2490537"/>
            <a:ext cx="44805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Чистая позиция = активы − обязательства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или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поступления − выплаты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78408" y="3977640"/>
            <a:ext cx="4572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Пример</a:t>
            </a:r>
            <a:r>
              <a:rPr lang="en-US" sz="15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5 млн USD поступлений − 3 млн USD выплат = +2 млн USD.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144768" y="1280160"/>
            <a:ext cx="5349240" cy="4526280"/>
          </a:xfrm>
          <a:prstGeom prst="roundRect">
            <a:avLst>
              <a:gd name="adj" fmla="val 2424"/>
            </a:avLst>
          </a:prstGeom>
          <a:solidFill>
            <a:srgbClr val="F3F5F7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572768"/>
            <a:ext cx="47548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дополнительно учитывается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73952" y="2148840"/>
            <a:ext cx="4480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US" sz="16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срок валютного потока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3952" y="2606040"/>
            <a:ext cx="4480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US" sz="16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волатильность курса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3952" y="3063240"/>
            <a:ext cx="4480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US" sz="16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сценарии −5%, −10%, +15%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3952" y="3520440"/>
            <a:ext cx="4480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US" sz="16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стресс-тесты редких шоков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3952" y="3977640"/>
            <a:ext cx="4480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US" sz="16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VaR и чувствительность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3952" y="4800600"/>
            <a:ext cx="45262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87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Позицию оценивают одновременно по сумме и сроку.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5718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Хеджирование: основные инструменты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75488" y="1417320"/>
            <a:ext cx="2587752" cy="434340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66420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356EA8"/>
          </a:solidFill>
          <a:ln w="12700">
            <a:solidFill>
              <a:srgbClr val="356E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824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Форвард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212848"/>
            <a:ext cx="22219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фиксирует будущий курс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3154680"/>
            <a:ext cx="222199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Когда полезен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3493008"/>
            <a:ext cx="217627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точное соответствие платежу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58368" y="4370832"/>
            <a:ext cx="222199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Ограничение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94944" y="4709160"/>
            <a:ext cx="215798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теряется выгода от благоприятного курса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83280" y="1417320"/>
            <a:ext cx="2587752" cy="4343400"/>
          </a:xfrm>
          <a:prstGeom prst="roundRect">
            <a:avLst>
              <a:gd name="adj" fmla="val 4240"/>
            </a:avLst>
          </a:prstGeom>
          <a:solidFill>
            <a:srgbClr val="F3F5F7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166420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4F7D61"/>
          </a:solidFill>
          <a:ln w="12700">
            <a:solidFill>
              <a:srgbClr val="4F7D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6824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Times New Roman" pitchFamily="34" charset="0"/>
                <a:cs typeface="Times New Roman" pitchFamily="34" charset="-120"/>
              </a:rPr>
              <a:t>Фьючерс</a:t>
            </a:r>
            <a:endParaRPr lang="en-US" sz="1400" b="1" dirty="0">
              <a:solidFill>
                <a:srgbClr val="FFFFFF"/>
              </a:solidFill>
              <a:latin typeface="Times New Roman" pitchFamily="34" charset="0"/>
              <a:cs typeface="Times New Roman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66160" y="2212848"/>
            <a:ext cx="22219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стандартизированный контракт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160" y="3154680"/>
            <a:ext cx="222199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Когда полезен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93592" y="3493008"/>
            <a:ext cx="217627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биржевая позиция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3566160" y="4370832"/>
            <a:ext cx="222199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Ограничение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02736" y="4709160"/>
            <a:ext cx="215798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базисный риск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91072" y="1417320"/>
            <a:ext cx="2587752" cy="434340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166420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C9872B"/>
          </a:solidFill>
          <a:ln w="12700">
            <a:solidFill>
              <a:srgbClr val="C987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16824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Times New Roman" pitchFamily="34" charset="0"/>
                <a:cs typeface="Times New Roman" pitchFamily="34" charset="-120"/>
              </a:rPr>
              <a:t>Опцион</a:t>
            </a:r>
            <a:endParaRPr lang="en-US" sz="1400" b="1" dirty="0">
              <a:solidFill>
                <a:srgbClr val="FFFFFF"/>
              </a:solidFill>
              <a:latin typeface="Times New Roman" pitchFamily="34" charset="0"/>
              <a:cs typeface="Times New Roman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73952" y="2212848"/>
            <a:ext cx="22219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право без обязанности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73952" y="3154680"/>
            <a:ext cx="222199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Когда полезен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01384" y="3493008"/>
            <a:ext cx="217627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гибкий денежный поток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473952" y="4370832"/>
            <a:ext cx="222199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Ограничение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10528" y="4709160"/>
            <a:ext cx="215798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есть премия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198864" y="1417320"/>
            <a:ext cx="2587752" cy="4343400"/>
          </a:xfrm>
          <a:prstGeom prst="roundRect">
            <a:avLst>
              <a:gd name="adj" fmla="val 4240"/>
            </a:avLst>
          </a:prstGeom>
          <a:solidFill>
            <a:srgbClr val="F3F5F7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81744" y="166420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A04A42"/>
          </a:solidFill>
          <a:ln w="12700">
            <a:solidFill>
              <a:srgbClr val="A04A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81744" y="16824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Times New Roman" pitchFamily="34" charset="0"/>
                <a:cs typeface="Times New Roman" pitchFamily="34" charset="-120"/>
              </a:rPr>
              <a:t>Своп</a:t>
            </a:r>
            <a:endParaRPr lang="en-US" sz="1400" b="1" dirty="0">
              <a:solidFill>
                <a:srgbClr val="FFFFFF"/>
              </a:solidFill>
              <a:latin typeface="Times New Roman" pitchFamily="34" charset="0"/>
              <a:cs typeface="Times New Roman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381744" y="2212848"/>
            <a:ext cx="222199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обмен валютными потоками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381744" y="3154680"/>
            <a:ext cx="222199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Когда полезен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409176" y="3493008"/>
            <a:ext cx="217627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финансирование и перенос сроков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9381744" y="4370832"/>
            <a:ext cx="222199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Ограничение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418320" y="4709160"/>
            <a:ext cx="215798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сложнее по структуре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77240" y="5989320"/>
            <a:ext cx="1056132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C68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 апреле 2025 г. свопы обеспечивали около 42% общего OTC FX-оборота. [4]</a:t>
            </a:r>
            <a:endParaRPr lang="en-US" sz="13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5718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Исторические кейсы: 1971–1998 гг.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" y="2788920"/>
            <a:ext cx="9966960" cy="0"/>
          </a:xfrm>
          <a:prstGeom prst="line">
            <a:avLst/>
          </a:prstGeom>
          <a:noFill/>
          <a:ln w="31750">
            <a:solidFill>
              <a:srgbClr val="1F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5880" y="2615184"/>
            <a:ext cx="329184" cy="329184"/>
          </a:xfrm>
          <a:prstGeom prst="ellipse">
            <a:avLst/>
          </a:prstGeom>
          <a:solidFill>
            <a:srgbClr val="356EA8"/>
          </a:solidFill>
          <a:ln w="12700">
            <a:solidFill>
              <a:srgbClr val="356E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325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1971–1973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7512" y="2139696"/>
            <a:ext cx="1645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Бреттон-Вудс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33088" y="2615184"/>
            <a:ext cx="329184" cy="329184"/>
          </a:xfrm>
          <a:prstGeom prst="ellipse">
            <a:avLst/>
          </a:prstGeom>
          <a:solidFill>
            <a:srgbClr val="C9872B"/>
          </a:solidFill>
          <a:ln w="12700">
            <a:solidFill>
              <a:srgbClr val="C98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0168" y="1691640"/>
            <a:ext cx="1325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1994–1995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74720" y="2139696"/>
            <a:ext cx="1645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Мексика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967728" y="2615184"/>
            <a:ext cx="329184" cy="329184"/>
          </a:xfrm>
          <a:prstGeom prst="ellipse">
            <a:avLst/>
          </a:prstGeom>
          <a:solidFill>
            <a:srgbClr val="4F7D61"/>
          </a:solidFill>
          <a:ln w="12700">
            <a:solidFill>
              <a:srgbClr val="4F7D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691640"/>
            <a:ext cx="1325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1997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09360" y="2139696"/>
            <a:ext cx="1645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Таиланд / Азия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802368" y="2615184"/>
            <a:ext cx="329184" cy="329184"/>
          </a:xfrm>
          <a:prstGeom prst="ellipse">
            <a:avLst/>
          </a:prstGeom>
          <a:solidFill>
            <a:srgbClr val="A04A42"/>
          </a:solidFill>
          <a:ln w="12700">
            <a:solidFill>
              <a:srgbClr val="A04A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99448" y="1691640"/>
            <a:ext cx="1325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1998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0" y="2139696"/>
            <a:ext cx="1645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Россия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3232" y="3310128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511296"/>
            <a:ext cx="2039112" cy="1243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Отказ от конвертируемости доллара в золото; переход к более гибким курсам [1;2]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593592" y="3310128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9896" y="3511296"/>
            <a:ext cx="2039112" cy="1243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Резервы ↓, долларовый долг ↑; песо ослаб примерно на 30% [6]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37376" y="3310128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511296"/>
            <a:ext cx="2039112" cy="1243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Отказ от фиксации бата; валютный шок перешел в банковский [7]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44000" y="3310128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0304" y="3511296"/>
            <a:ext cx="2039112" cy="1243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Расширение коридора и последующий float; девальвация и банковский кризис [8]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5718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Кейс Швейцарии: 15 января 2015 г.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EAF0F6"/>
          </a:solidFill>
          <a:ln w="12700">
            <a:solidFill>
              <a:srgbClr val="D8E2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 решения SNB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0976" y="2331720"/>
            <a:ext cx="265176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Минимальный курс</a:t>
            </a:r>
            <a:endParaRPr lang="en-US" sz="2500" dirty="0"/>
          </a:p>
          <a:p>
            <a:pPr marL="0" indent="0" algn="ctr">
              <a:buNone/>
            </a:pP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1,20 CHF / EUR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50976" y="3675888"/>
            <a:ext cx="265176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SNB заявлял готовность покупать иностранную валюту в неограниченных количествах.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70248" y="2898648"/>
            <a:ext cx="594360" cy="658368"/>
          </a:xfrm>
          <a:prstGeom prst="chevron">
            <a:avLst/>
          </a:prstGeom>
          <a:solidFill>
            <a:srgbClr val="C9872B"/>
          </a:solidFill>
          <a:ln w="12700">
            <a:solidFill>
              <a:srgbClr val="C98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4920" y="1371600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3E4"/>
          </a:solidFill>
          <a:ln w="12700">
            <a:solidFill>
              <a:srgbClr val="E5CD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58384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04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января 2015 г.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94960" y="2331720"/>
            <a:ext cx="2606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04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Отмена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A04A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минимального курса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376672" y="3675888"/>
            <a:ext cx="265176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Одновременно ставка по депозитам снижена до −0,75%. [9]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95360" y="1371600"/>
            <a:ext cx="2880360" cy="41605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87968" y="1673352"/>
            <a:ext cx="22860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Урок для риск-менеджмента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87968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US" sz="14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учитывать риск смены режима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887968" y="3273552"/>
            <a:ext cx="23317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US" sz="14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стресс-тестировать резкие движения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887968" y="4087368"/>
            <a:ext cx="233172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US" sz="14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 смешивать валютный и ликвидностный риск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5718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Что объединяет исторические кейсы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58952" y="1435608"/>
            <a:ext cx="384048" cy="384048"/>
          </a:xfrm>
          <a:prstGeom prst="ellipse">
            <a:avLst/>
          </a:prstGeom>
          <a:solidFill>
            <a:srgbClr val="356EA8"/>
          </a:solidFill>
          <a:ln w="12700">
            <a:solidFill>
              <a:srgbClr val="356E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8952" y="147218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53312" y="1325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Устойчивый курс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43400" y="132588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участники принимают риск как ограниченный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50976" y="1856232"/>
            <a:ext cx="0" cy="393192"/>
          </a:xfrm>
          <a:prstGeom prst="line">
            <a:avLst/>
          </a:prstGeom>
          <a:noFill/>
          <a:ln w="15240">
            <a:solidFill>
              <a:srgbClr val="CF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368296"/>
            <a:ext cx="384048" cy="384048"/>
          </a:xfrm>
          <a:prstGeom prst="ellipse">
            <a:avLst/>
          </a:prstGeom>
          <a:solidFill>
            <a:srgbClr val="356EA8"/>
          </a:solidFill>
          <a:ln w="12700">
            <a:solidFill>
              <a:srgbClr val="356E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40487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53312" y="22585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Накопление дисбалансов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43400" y="225856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долг, дефициты, зависимость от внешнего финансирования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50976" y="2788920"/>
            <a:ext cx="0" cy="393192"/>
          </a:xfrm>
          <a:prstGeom prst="line">
            <a:avLst/>
          </a:prstGeom>
          <a:noFill/>
          <a:ln w="15240">
            <a:solidFill>
              <a:srgbClr val="CF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" y="3300984"/>
            <a:ext cx="384048" cy="384048"/>
          </a:xfrm>
          <a:prstGeom prst="ellipse">
            <a:avLst/>
          </a:prstGeom>
          <a:solidFill>
            <a:srgbClr val="C9872B"/>
          </a:solidFill>
          <a:ln w="12700">
            <a:solidFill>
              <a:srgbClr val="C987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3375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53312" y="319125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Потеря доверия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43400" y="3191256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резервы сокращаются или рефинансирование усложняется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50976" y="3721608"/>
            <a:ext cx="0" cy="393192"/>
          </a:xfrm>
          <a:prstGeom prst="line">
            <a:avLst/>
          </a:prstGeom>
          <a:noFill/>
          <a:ln w="15240">
            <a:solidFill>
              <a:srgbClr val="CF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4233672"/>
            <a:ext cx="384048" cy="384048"/>
          </a:xfrm>
          <a:prstGeom prst="ellipse">
            <a:avLst/>
          </a:prstGeom>
          <a:solidFill>
            <a:srgbClr val="A04A42"/>
          </a:solidFill>
          <a:ln w="12700">
            <a:solidFill>
              <a:srgbClr val="A04A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2702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53312" y="412394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Коррекция курса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43400" y="4123944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девальвация / отказ от режима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50976" y="4654296"/>
            <a:ext cx="0" cy="393192"/>
          </a:xfrm>
          <a:prstGeom prst="line">
            <a:avLst/>
          </a:prstGeom>
          <a:noFill/>
          <a:ln w="15240">
            <a:solidFill>
              <a:srgbClr val="CFD5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" y="5166360"/>
            <a:ext cx="384048" cy="384048"/>
          </a:xfrm>
          <a:prstGeom prst="ellipse">
            <a:avLst/>
          </a:prstGeom>
          <a:solidFill>
            <a:srgbClr val="A04A42"/>
          </a:solidFill>
          <a:ln w="12700">
            <a:solidFill>
              <a:srgbClr val="A04A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520293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53312" y="50566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Передача шока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43400" y="5056632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банки, компании, государство, инвесторы</a:t>
            </a:r>
            <a:endParaRPr lang="en-US" sz="14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5718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Организация системы управления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828800"/>
            <a:ext cx="2011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1993392"/>
            <a:ext cx="320040" cy="320040"/>
          </a:xfrm>
          <a:prstGeom prst="rect">
            <a:avLst/>
          </a:prstGeom>
          <a:solidFill>
            <a:srgbClr val="356E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" y="1993392"/>
            <a:ext cx="1207008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Карта позиций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68249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суммы, валюты, сроки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2642616" y="2578608"/>
            <a:ext cx="201168" cy="384048"/>
          </a:xfrm>
          <a:prstGeom prst="chevron">
            <a:avLst/>
          </a:prstGeom>
          <a:solidFill>
            <a:srgbClr val="CFD5DD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80360" y="1828800"/>
            <a:ext cx="2011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5808" y="1993392"/>
            <a:ext cx="320040" cy="320040"/>
          </a:xfrm>
          <a:prstGeom prst="rect">
            <a:avLst/>
          </a:prstGeom>
          <a:solidFill>
            <a:srgbClr val="4F7D6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993392"/>
            <a:ext cx="1207008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Лимиты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44952" y="2606040"/>
            <a:ext cx="168249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допустимая открытая позиция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4956048" y="2578608"/>
            <a:ext cx="201168" cy="384048"/>
          </a:xfrm>
          <a:prstGeom prst="chevron">
            <a:avLst/>
          </a:prstGeom>
          <a:solidFill>
            <a:srgbClr val="CFD5DD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93792" y="1828800"/>
            <a:ext cx="2011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1993392"/>
            <a:ext cx="320040" cy="320040"/>
          </a:xfrm>
          <a:prstGeom prst="rect">
            <a:avLst/>
          </a:prstGeom>
          <a:solidFill>
            <a:srgbClr val="C9872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42432" y="1993392"/>
            <a:ext cx="1207008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Сценарии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58384" y="2606040"/>
            <a:ext cx="168249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базовые и стрессовые изменения курса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7269480" y="2578608"/>
            <a:ext cx="201168" cy="384048"/>
          </a:xfrm>
          <a:prstGeom prst="chevron">
            <a:avLst/>
          </a:prstGeom>
          <a:solidFill>
            <a:srgbClr val="CFD5DD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07224" y="1828800"/>
            <a:ext cx="2011680" cy="1965960"/>
          </a:xfrm>
          <a:prstGeom prst="roundRect">
            <a:avLst>
              <a:gd name="adj" fmla="val 5581"/>
            </a:avLst>
          </a:prstGeom>
          <a:solidFill>
            <a:srgbClr val="FFF3E4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62672" y="1993392"/>
            <a:ext cx="320040" cy="320040"/>
          </a:xfrm>
          <a:prstGeom prst="rect">
            <a:avLst/>
          </a:prstGeom>
          <a:solidFill>
            <a:srgbClr val="A04A4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55864" y="1993392"/>
            <a:ext cx="1207008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Хедж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71816" y="2606040"/>
            <a:ext cx="168249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инструмент под конкретную экспозицию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9582912" y="2578608"/>
            <a:ext cx="201168" cy="384048"/>
          </a:xfrm>
          <a:prstGeom prst="chevron">
            <a:avLst/>
          </a:prstGeom>
          <a:solidFill>
            <a:srgbClr val="CFD5DD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20656" y="1828800"/>
            <a:ext cx="2011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76104" y="1993392"/>
            <a:ext cx="320040" cy="320040"/>
          </a:xfrm>
          <a:prstGeom prst="rect">
            <a:avLst/>
          </a:prstGeom>
          <a:solidFill>
            <a:srgbClr val="1F3A5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369296" y="1993392"/>
            <a:ext cx="1207008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Контроль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985248" y="2606040"/>
            <a:ext cx="168249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пересмотр позиции и эффективности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960120" y="4370832"/>
            <a:ext cx="10195560" cy="896112"/>
          </a:xfrm>
          <a:prstGeom prst="roundRect">
            <a:avLst>
              <a:gd name="adj" fmla="val 12245"/>
            </a:avLst>
          </a:prstGeom>
          <a:solidFill>
            <a:srgbClr val="EAF0F6"/>
          </a:solidFill>
          <a:ln w="12700">
            <a:solidFill>
              <a:srgbClr val="D8E2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16152" y="4645152"/>
            <a:ext cx="969264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Хеджирование начинается с определения экономической экспозиции, а не с выбора дериватива.</a:t>
            </a:r>
            <a:endParaRPr lang="en-US" sz="17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5718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Заключение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280160"/>
            <a:ext cx="67208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572768"/>
            <a:ext cx="6126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Основные положения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32688" y="2103120"/>
            <a:ext cx="5989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US" sz="15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валютный риск нельзя полностью исключить — его величину делают управляемой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32688" y="2779776"/>
            <a:ext cx="5989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US" sz="15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оценка начинается с открытой позиции по суммам и срокам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32688" y="3456432"/>
            <a:ext cx="5989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US" sz="15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форварды, фьючерсы, опционы и свопы решают разные задачи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2688" y="4133088"/>
            <a:ext cx="5989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US" sz="15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исторические кризисы показывают связь курса, долга, резервов и ликвидности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32688" y="4892040"/>
            <a:ext cx="5989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356E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r>
              <a:rPr lang="en-US" sz="155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стресс-тесты должны учитывать не только курс, но и смену режима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699248" y="1280160"/>
            <a:ext cx="3794760" cy="4526280"/>
          </a:xfrm>
          <a:prstGeom prst="roundRect">
            <a:avLst>
              <a:gd name="adj" fmla="val 2892"/>
            </a:avLst>
          </a:prstGeom>
          <a:solidFill>
            <a:srgbClr val="F3F5F7"/>
          </a:solidFill>
          <a:ln w="12700">
            <a:solidFill>
              <a:srgbClr val="CF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1591056"/>
            <a:ext cx="3154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Источники в реферате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28432" y="2148840"/>
            <a:ext cx="310896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IMF — история международной валютной системы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UVA Darden — Managing Foreign Exchange Risks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[4;5] BIS — FX turnover, April 2025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[6–8;10] IMF — кризисы Мексики, Азии, России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02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[9] Swiss National Bank — 15.01.2015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5961888"/>
            <a:ext cx="44805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Спасибо за внимание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5718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868</Words>
  <Application>Microsoft Office PowerPoint</Application>
  <PresentationFormat>Широкоэкранный</PresentationFormat>
  <Paragraphs>202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МТУСИ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Валютные риски: понятия, виды, исторические кейсы</dc:title>
  <dc:subject>Валютные риски: понятия, виды, исторические кейсы</dc:subject>
  <dc:creator>Яричевский Даниил Олегович</dc:creator>
  <cp:lastModifiedBy>DYF lhb</cp:lastModifiedBy>
  <cp:revision>2</cp:revision>
  <dcterms:created xsi:type="dcterms:W3CDTF">2026-09-16T09:21:07Z</dcterms:created>
  <dcterms:modified xsi:type="dcterms:W3CDTF">2026-09-16T09:27:45Z</dcterms:modified>
</cp:coreProperties>
</file>